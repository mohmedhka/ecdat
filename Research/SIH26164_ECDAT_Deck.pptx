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State team name, problem statement ID (SIH26164), title, and theme. Keep under 15 seconds. End with: 'Here is the problem and our proposed solution.'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4 stats at the top first: 50.7% vulnerable, 2030/2035 mandate, 4-tier X-inference classification, 32-byte Merkle root. Under Innovation: highlight privacy-preserving CBOM verification — auditing without exposing internal codebase structure. Explain Y_max = Z - X as an engineering deadline per asset. Mention the 4-tier X model: EPHEMERAL, OPERATIONAL, ARCHIVAL, HUMAN_REVIEW. Bridge: 'Now let us look at our Technical Approach and complete Implementation Flowchart.'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Technical Approach slide with the complete Implementation Flowchart. Walk the 5 stages left to right: (1) Inputs across 4 enterprise surfaces. (2) Phase 1 discovery via open-source PQCA CBOMkit. (3) Phase 2 dual risk engine: automated taint dataflow for 4-tier X, and dual-Z for Y_max. (4) Phase 3/4 FIPS 203/204/205 recommendation, hybrid-first pairing, and SHA-256 Merkle tree commitment. (5) Deliverables: ECMA-424 CBOM, selective inclusion proofs, CISO dashboard, and CBOM diff report. Then highlight the bottom panels: standard tech stack and phased implementation plan with planned validation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read through the 4 dimensions quickly (technical, operational, security, economic). Focus on the Challenges table: highlight Row 1 (CBOM confidentiality via Merkle commitments), Row 2 (ambiguous data lifespan: taint-based 4-tier X classification), Row 3 (inter-procedural taint limitation: call-graph API stubs + HUMAN_REVIEW escalation), and Row 4 (binary stripped cryptography: Ghidra headless decompilation roadmap). Emphasize: 'A team that acknowledges and solves real technical bottlenecks is ready for production.'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address Who Benefits: CISOs, Compliance teams, Software Engineers, Critical Infrastructure sectors, and DevSecOps communities. Under Broader Benefits: emphasize HNDL protection and tamper-evident auditability. Frame this not just as an IT tool, but as strategic national security infrastructure for post-quantum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Do not read every reference word-for-word. State: 'Our entire solution is grounded in NIST's finalized FIPS standards, OMB M-26-15's federal mandate, and two recent March 2026 peer-reviewed papers by IBM Research and Blanco-Romero et al. Our validation approach uses open-source codebases with known crypto estates so we can measure detection accuracy honestly.' Thank the judges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50292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0" y="96012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ECDAT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0" y="2084832"/>
            <a:ext cx="12188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CRYPTOGRAPHIC DISCOVERY &amp; ANALYSIS TOOL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0" y="256032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Post-Quantum Readiness, Temporal Risk Modeling &amp; Tamper-Evident CBOM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0" y="3035808"/>
            <a:ext cx="670255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3246120"/>
            <a:ext cx="7434072" cy="265176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3429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: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715000" y="3429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SIH26164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813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: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813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Cryptographic Discovery &amp; Analysis Tool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197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: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4197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45811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: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45811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9651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: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4965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ID]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53492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5349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Name]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TITLE: ECDAT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1274552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0408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SIH26164 — Proposed Solution, Problem Analysis, and Core Innovations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0" y="6565392"/>
            <a:ext cx="1218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[Your Team Name]  |  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267004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2412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353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Domains Classically Vulnerable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53619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Measurement Study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19272" y="987552"/>
            <a:ext cx="267004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9272" y="102412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/ 2035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64992" y="1353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IR 8547 &amp; OMB M-26-15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153619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 &amp; Disallowance Dates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1344" y="987552"/>
            <a:ext cx="267004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81344" y="102412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27064" y="1353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X-Inference Classification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227064" y="153619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· OPERATIONAL · ARCHIVAL · REVIEW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043416" y="987552"/>
            <a:ext cx="267004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43416" y="1024128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Bytes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89136" y="1353312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 Commitment Root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089136" y="153619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Audit Verification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874520"/>
            <a:ext cx="54406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189280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19456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IR 8547 mandate: RSA, ECDSA, ECDH deprecated by 2030, disallowed by 2035; OMB M-26-15 mandates automated PQC discovery plans by Oct 2026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possess thousands of uncataloged crypto assets across source code, legacy certs, microservices, and containers with zero visibility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Harvest-Now-Decrypt-Later (HNDL) threat: adversaries archive today's encrypted data to crack with future Cryptanalytically Relevant Quantum Computers (CRQC)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discovery tools export complete plaintext inventories, inadvertently exposing sensitive internal architecture and cryptographic call sites in audit reports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08192" y="1874520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E6F7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9632" y="18928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(ECDAT)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2194560"/>
            <a:ext cx="5623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5-Layer Cryptographic Discovery, Temporal Risk Scoring, and PQC Migration Platform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Multi-surface discovery: parses source code ASTs, X.509 keystores, container images, and cloud TLS configurations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Planning-centric Mosca Engine: computes Y_max = Z − X (available migration window) instead of a naive binary compliance flag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Standards-compliant CBOM generation (CycloneDX 1.6 / ECMA-424) with hybrid-first FIPS 203/204/205 recommendations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CISO risk dashboard with dependency contagion modeling and drill-down to exact code sites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54406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17880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480560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tagging: automated taint &amp; dataflow analysis classifies each crypto asset's data lifespan X into four tiers — EPHEMERAL, OPERATIONAL, ARCHIVAL, or HUMAN_REVIEW — based on persistence sink analysis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risk to regulatory truth: maps directly to OMB M-26-15 5-phase timeline and Global Risk Institute quantum arrival distributions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the inventory itself: Merkle tree commitment scheme publishes only a 32-byte root; auditors verify compliance via selective proofs without accessing internal code paths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Crypto-shredding guidance: flags cases where destroying the encryption key reduces X classification from ARCHIVAL to effectively EPHEMERAL, dramatically improving migration priority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08192" y="4160520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E6F7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99632" y="4178808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108192" y="4480560"/>
            <a:ext cx="5623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CBOM via Merkle Commitments: enables external compliance auditing via selective inclusion proofs without exposing internal code paths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Mosca Metric (Y_max = Z − X): treats migration time as an engineering budget per asset; identifies crypto-shredding levers to shrink X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X-inference: four data-lifespan tiers (EPHEMERAL / OPERATIONAL / ARCHIVAL / HUMAN_REVIEW) with call-graph-aware taint tracing across module boundaries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Regulatory-physical dual-Z model: evaluates both the OMB M-26-15 compliance deadline and the GRI 2025 probabilistic CRQC arrival distribution separately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1274552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0408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SIH26164 — Methodology &amp; Implementation Process (Flow Chart), Tech Stack &amp; Working Prototype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0" y="6565392"/>
            <a:ext cx="1218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[Your Team Name]  |  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97840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IMPLEMENTATION PROCESS (FLOW CHART)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993392" cy="2816352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98448"/>
            <a:ext cx="199339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31673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SCAN SURFACES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1773936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18013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Repositories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0208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Go, Python, C/C++ ASTs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0352" y="2340864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682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Certificates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5877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ASN.1 parsers, TLS Keystores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30352" y="2907792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9352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154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/ Docker filesystem layers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" y="3474720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5021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TLS Configs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72160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Secrets, Ingress configs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87168" y="2532888"/>
            <a:ext cx="182880" cy="21945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06624" y="1298448"/>
            <a:ext cx="1993392" cy="2816352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06624" y="1298448"/>
            <a:ext cx="1993392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52344" y="131673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DISCOVERY ENGINE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79776" y="1773936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16352" y="18013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PQCA CBOMkit Hyperion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816352" y="20208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AST crypto API extraction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79776" y="2340864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16352" y="23682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CBOMkit Theia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816352" y="25877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library &amp; container scan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79776" y="2907792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16352" y="29352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Linkage Parser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816352" y="3154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ELF/PE dynamic import analysis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79776" y="3474720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16352" y="35021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Asset Graph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2816352" y="372160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crypto invocation map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36592" y="2532888"/>
            <a:ext cx="182880" cy="21945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56048" y="1298448"/>
            <a:ext cx="1993392" cy="2816352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15240">
            <a:solidFill>
              <a:srgbClr val="2F3C7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56048" y="1298448"/>
            <a:ext cx="1993392" cy="402336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01768" y="131673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DUAL RISK ENGINE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0" y="1773936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65776" y="18013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Dataflow (X)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065776" y="20208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RAM (ephemeral) vs DB/Disk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0" y="2340864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65776" y="23682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Dual-Z Temporal Engine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065776" y="25877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Y_max = Z - X (OMB &amp; GRI 2025)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9200" y="2907792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065776" y="29352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Crypto-Shredding Check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5065776" y="3154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key destruction levers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0" y="3474720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65776" y="35021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Contagion Graph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065776" y="372160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superspreader libraries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86016" y="2532888"/>
            <a:ext cx="182880" cy="21945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05472" y="1298448"/>
            <a:ext cx="1993392" cy="2816352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05472" y="1298448"/>
            <a:ext cx="1993392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251192" y="131673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4: PQC &amp; ATTESTATION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78624" y="1773936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15200" y="18013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203/204/205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7315200" y="20208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ML-KEM, ML-DSA, SLH-DSA mapping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278624" y="2340864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15200" y="23682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Hybrid-First Guidance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7315200" y="25877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X25519+ML-KEM / ECDSA+ML-DSA pairing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278624" y="2907792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315200" y="29352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Merkle Tree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7315200" y="3154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asset records into leaves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278624" y="3474720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315200" y="35021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32B Root Commitment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7315200" y="372160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root publication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235440" y="2532888"/>
            <a:ext cx="182880" cy="21945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54896" y="1298448"/>
            <a:ext cx="1993392" cy="2816352"/>
          </a:xfrm>
          <a:prstGeom prst="roundRect">
            <a:avLst>
              <a:gd name="adj" fmla="val 2294"/>
            </a:avLst>
          </a:prstGeom>
          <a:solidFill>
            <a:srgbClr val="F8FAFC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54896" y="1298448"/>
            <a:ext cx="199339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500616" y="131673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DELIVERABLES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528048" y="1773936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564624" y="180136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ECMA-424 CBOM JSON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9564624" y="20208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CycloneDX 1.6 standard export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9528048" y="2340864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9564624" y="2368296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Proofs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564624" y="25877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verification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9528048" y="2907792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564624" y="2935224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Risk Dashboard</a:t>
            </a:r>
            <a:endParaRPr lang="en-US" sz="950" dirty="0"/>
          </a:p>
        </p:txBody>
      </p:sp>
      <p:sp>
        <p:nvSpPr>
          <p:cNvPr id="83" name="Text 81"/>
          <p:cNvSpPr txBox="1"/>
          <p:nvPr/>
        </p:nvSpPr>
        <p:spPr>
          <a:xfrm>
            <a:off x="9564624" y="315468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Y_max timeline &amp; Gantt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528048" y="3474720"/>
            <a:ext cx="1847088" cy="49377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564624" y="3502152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CBOM Diff Report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564624" y="372160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migration delta tracking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57200" y="4224528"/>
            <a:ext cx="54406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48640" y="424281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TO BE USED</a:t>
            </a:r>
            <a:endParaRPr lang="en-US" sz="1100" dirty="0"/>
          </a:p>
        </p:txBody>
      </p:sp>
      <p:sp>
        <p:nvSpPr>
          <p:cNvPr id="89" name="Text 87"/>
          <p:cNvSpPr txBox="1"/>
          <p:nvPr/>
        </p:nvSpPr>
        <p:spPr>
          <a:xfrm>
            <a:off x="457200" y="4544568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Engine: Python 3.11 (Risk Engine, Taint Tracer), Go &amp; Java (CBOMkit AST Analyzers), React 18 / TypeScript (Dashboard)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Scanners: PQCA CBOMkit (Hyperion for SonarQube AST, Theia for OCI containers), OpenSSL / Cryptography.io parser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&amp; Standards: NIST FIPS 203 (ML-KEM), FIPS 204 (ML-DSA), FIPS 205 (SLH-DSA), NIST IR 8547, ECMA-424 (CycloneDX CBOM 1.6)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Auditing: SHA-256 Merkle Trees, selective inclusion proof verification, IBM diffprivlib (risk-tiered aggregation)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108192" y="4224528"/>
            <a:ext cx="5623560" cy="274320"/>
          </a:xfrm>
          <a:prstGeom prst="roundRect">
            <a:avLst>
              <a:gd name="adj" fmla="val 13333"/>
            </a:avLst>
          </a:prstGeom>
          <a:solidFill>
            <a:srgbClr val="E6F7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199632" y="424281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SCOPE &amp; VALIDATION PLAN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6108192" y="4544568"/>
            <a:ext cx="5623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(MVP): Source-code AST scanner (Python + Go), taint-based X-classifier with 4-tier output, Mosca dual-Z engine, and CycloneDX 1.6 CBOM export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CBOMkit Hyperion/Theia integration for container and X.509 scanning; SHA-256 Merkle commitment module; CISO risk dashboard (React 18)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Inter-procedural call-graph taint analysis for cross-function persistence detection; known persistence API stubs for JDBC, SQLAlchemy, AWS SDK</a:t>
            </a:r>
            <a:endParaRPr lang="en-US" sz="100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Validation: open-source enterprise Java/Python codebases with known cryptographic estates (e.g. open-source microservice benchmarks) used as ground truth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1274552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0408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SIH26164 — Operational Feasibility, Risk Analysis, and Mitigation Strategies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0" y="6565392"/>
            <a:ext cx="1218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[Your Team Name]  |  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0584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112745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Feasibility: Built on Linux Foundation's PQCA CBOMkit — builds upon industry-standard AST engines rather than reinventing crypto scanning from zero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Feasibility: Generates CycloneDX 1.6 / ECMA-424 JSON — natively interoperable with existing enterprise SBOM and CI/CD pipelines (e.g. SonarQube, GitHub Actions)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Feasibility: Completely local execution (zero cloud leakage of CBOM data); Merkle root proofs satisfy external audits without exposing codebase paths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Feasibility: Portfolio optimization (Markowitz efficient frontier) enables CISOs to allocate migration budget for maximum risk reduction per dollar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24912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E6F7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4320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&amp; MITIGATION STRATEGIES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35808"/>
          <a:ext cx="11274552" cy="3246120"/>
        </p:xfrm>
        <a:graphic>
          <a:graphicData uri="http://schemas.openxmlformats.org/drawingml/2006/table">
            <a:tbl>
              <a:tblPr/>
              <a:tblGrid>
                <a:gridCol w="4937760"/>
                <a:gridCol w="6336792"/>
              </a:tblGrid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Challenge &amp;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Strategy &amp; 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Inventory Exposure: Standard plaintext CBOM reports expose sensitive internal file paths, module names, and key configurations during external audits.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Merkle Commitment: Publishes a 32-byte root. Auditors verify specific compliance claims via selective inclusion proofs without accessing full internal inventories.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Data Lifespan (X): Static code analysis cannot inherently determine how long encrypted records will be retained.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Taint &amp; Dataflow Persistence Tracing: Automatically checks whether ciphertexts reach persistent storage (DB/Disk/S3) vs ephemeral memory; flags low confidence for human review.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Inter-procedural Persistence Detection: When a ciphertext is passed into a third-party function or external library call, static taint analysis cannot determine whether that function writes to persistent storage.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Call-Graph API Stubs + HUMAN_REVIEW Tier: ECDAT ships pre-annotated stubs for common persistence APIs (JDBC, SQLAlchemy, S3 SDK). For unresolved external sinks, assets are automatically escalated to the HUMAN_REVIEW X-tier with a confidence score.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Stripped Cryptography: Compiled binaries without symbols or source code are computationally expensive to decompile.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Ingestion Triage: Fast symbol/import table scanning for MVP; automated Ghidra headless decompilation scheduled as an explicit enterprise roadmap tier.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1274552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0408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SIH26164 — Multi-Stakeholder Value Proposition &amp; Strategic National Impact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0" y="6565392"/>
            <a:ext cx="1218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[Your Team Name]  |  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0584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IMPACT (WHO BENEFITS &amp; HOW)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16736"/>
            <a:ext cx="112745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Security Officers (CISOs): Replaces subjective audit checklists with a quantifiable, ranked migration backlog; portfolio optimization maximizes risk reduction per budget dollar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Internal Audit Teams: Automated CBOM generation natively satisfies NIST IR 8547, OMB M-26-15, and CNSA 2.0 requirements without manual questionnaire audits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Teams: Taint-based X-inference filters out thousands of ephemeral low-risk keys, pinpointing the critical persistent-data call sites that truly require migration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Infrastructure &amp; Regulated Sectors: Banking, healthcare, defense, and government agencies secure long-lived data against HNDL attacks well ahead of the 2030/2035 mandates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&amp; Open-Source Communities: CBOM export pipeline integrates natively with CI/CD workflows (GitHub Actions, SonarQube), automating PQC compliance checks on every code merge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785616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E6F7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039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BENEFITS (SECURITY, ECONOMIC &amp; NATIONAL IMPACT)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14800"/>
            <a:ext cx="112745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National Cybersecurity: Directly neutralizes 'Harvest Now, Decrypt Later' (HNDL) intelligence gathering against national sensitive data and citizen registries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Efficiency: Avoids costly, reactive blanket replacements; targeted Mosca planning (Y_max = Z − X) prioritizes high-yield remediation and crypto-shredding levers first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Accountability: Merkle commitment history provides an immutable audit trail, preventing retroactive compliance claims in post-incident forensic investigations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Ecosystem Interoperability: Adopting ECMA-424 / CycloneDX CBOM standards prevents vendor lock-in and enables seamless integration with existing SIEM/SOAR infrastructure</a:t>
            </a:r>
            <a:endParaRPr lang="en-US" sz="105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Infrastructure Resilience: Establishes a verifiable, proactive post-quantum migration framework across critical enterprise systems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1274552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0408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SIH26164 — Standards Grounding, Peer-Reviewed Prior Art &amp; Experimental Validation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0" y="6565392"/>
            <a:ext cx="12188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[Your Team Name]  |  Smart India Hackathon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00584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STANDARDS &amp; REGULATORY MANDATES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11274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IR 8547 (Nov 2024): 'Transition to Post-Quantum Cryptography Standards' — Sets official deprecation (2030) and disallowance (2035) dates for classical public-key cryptography</a:t>
            </a:r>
            <a:endParaRPr lang="en-US" sz="102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 (ML-KEM), FIPS 204 (ML-DSA), FIPS 205 (SLH-DSA) (Aug 2024): Official post-quantum standards defining lattice-based and hash-based cryptographic primitives</a:t>
            </a:r>
            <a:endParaRPr lang="en-US" sz="102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Order 14412 &amp; OMB M-26-15 (June 24, 2026): Mandates 5-phase federal PQC migration; requires automated discovery tooling inventory plans by October 2026</a:t>
            </a:r>
            <a:endParaRPr lang="en-US" sz="102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CycloneDX / ECMA-424 v1.6: International Cryptography Bill of Materials (CBOM) specification; establishes standard schema for cryptographic asset reporting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57200" y="3182112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E6F7F9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LITERATURE &amp; COMPETITIVE BENCHMARKS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93008"/>
            <a:ext cx="112745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Research, 'Cryptoscope: Analyzing Cryptographic Usages in Modern Software' (arXiv:2503.19531, March 2025): CamBench benchmark (92% recall, 97% precision) for static crypto AST analysis</a:t>
            </a:r>
            <a:endParaRPr lang="en-US" sz="102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Blanco-Romero et al., 'On the Practical Feasibility of Harvest-Now, Decrypt-Later Attacks' (arXiv:2603.01091, March 2026): Empirical HNDL economics &amp; TLS 1.3 KeyUpdate cascade analysis</a:t>
            </a:r>
            <a:endParaRPr lang="en-US" sz="102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Risk Institute, 'Quantum Threat Timeline Report 2025': Annual survey tracking quantum computing hardware milestones; empirical source for physical-Z distribution (28–49% 10-year CRQC probability)</a:t>
            </a:r>
            <a:endParaRPr lang="en-US" sz="102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Post-Quantum Cryptography Alliance (PQCA): Open-source CBOMkit project (github.com/PQCA/cbomkit) providing community AST extraction modules</a:t>
            </a:r>
            <a:endParaRPr lang="en-US" sz="1020" dirty="0"/>
          </a:p>
          <a:p>
            <a:pPr algn="l" marL="342900" indent="-342900">
              <a:spcAft>
                <a:spcPts val="450"/>
              </a:spcAft>
              <a:buSzPct val="100000"/>
              <a:buChar char="▸"/>
            </a:pPr>
            <a:r>
              <a:rPr lang="en-US" sz="102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IETF RFC 9180 / draft-ietf-tls-ecdhe-mlkem: Standards track for hybrid post-quantum key exchange (X25519MLKEM768) in TLS 1.3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7200" y="5687568"/>
            <a:ext cx="11274552" cy="27432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705856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APPROACH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0176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validation uses open-source enterprise codebases with known cryptographic profiles as ground truth (e.g., open-source Java microservice frameworks and Python web services). ECDAT's risk classifications and X-tier assignments will be compared against manually audited inventories to measure recall, precision, and HUMAN_REVIEW escalation rates for the inter-procedural taint analysis module.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2026-09-01T13:00:35Z</dcterms:created>
  <dcterms:modified xsi:type="dcterms:W3CDTF">2026-09-01T13:00:35Z</dcterms:modified>
</cp:coreProperties>
</file>